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0" b="1" i="0">
                <a:solidFill>
                  <a:srgbClr val="1F4470"/>
                </a:solidFill>
              </a:rPr>
              <a:t>BUS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0" y="914400"/>
            <a:ext cx="6583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6C63FF"/>
                </a:solidFill>
              </a:rPr>
              <a:t>AI CHAT BOT BASED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0" y="1691640"/>
            <a:ext cx="6583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BUS TICKETING SYSTEM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0" y="2651760"/>
            <a:ext cx="4114800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0" y="2834640"/>
            <a:ext cx="6492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DDFF"/>
                </a:solidFill>
              </a:rPr>
              <a:t>A full-stack AI-powered travel assistant that finds,
filters and presents live bus tickets through
natural-language conversation.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0" y="4297680"/>
            <a:ext cx="1463040" cy="822960"/>
          </a:xfrm>
          <a:prstGeom prst="rect">
            <a:avLst/>
          </a:prstGeom>
          <a:solidFill>
            <a:srgbClr val="1E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0" y="4315968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D4AA"/>
                </a:solidFill>
              </a:rPr>
              <a:t>3+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46634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ABBDD"/>
                </a:solidFill>
              </a:rPr>
              <a:t>AI Models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903720" y="4297680"/>
            <a:ext cx="1463040" cy="822960"/>
          </a:xfrm>
          <a:prstGeom prst="rect">
            <a:avLst/>
          </a:prstGeom>
          <a:solidFill>
            <a:srgbClr val="1E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03720" y="4315968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D4AA"/>
                </a:solidFill>
              </a:rPr>
              <a:t>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46634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ABBDD"/>
                </a:solidFill>
              </a:rPr>
              <a:t>Bus Scrapers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03920" y="4297680"/>
            <a:ext cx="1463040" cy="822960"/>
          </a:xfrm>
          <a:prstGeom prst="rect">
            <a:avLst/>
          </a:prstGeom>
          <a:solidFill>
            <a:srgbClr val="1E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0" y="4315968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D4AA"/>
                </a:solidFill>
              </a:rPr>
              <a:t>15+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46634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ABBDD"/>
                </a:solidFill>
              </a:rPr>
              <a:t>Cities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104120" y="4297680"/>
            <a:ext cx="1463040" cy="822960"/>
          </a:xfrm>
          <a:prstGeom prst="rect">
            <a:avLst/>
          </a:prstGeom>
          <a:solidFill>
            <a:srgbClr val="1E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104120" y="4315968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D4AA"/>
                </a:solidFill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04120" y="46634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ABBDD"/>
                </a:solidFill>
              </a:rPr>
              <a:t>Smart Filters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0" y="62179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77"/>
                </a:solidFill>
              </a:rPr>
              <a:t>Presentation  |  June 2026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6473952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DD"/>
                </a:solidFill>
              </a:rPr>
              <a:t>AI Chat Bot Based Bus Ticketing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473952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DD"/>
                </a:solidFill>
              </a:rPr>
              <a:t>AI Chat Bot Based Bus Ticketing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1672" y="647395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BBDD"/>
                </a:solidFill>
              </a:rPr>
              <a:t>2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AA"/>
                </a:solidFill>
              </a:rPr>
              <a:t>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34440"/>
            <a:ext cx="1462674" cy="36576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457200" cy="5029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1536192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Project Overview &amp; Problem Statement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240280"/>
            <a:ext cx="457200" cy="5029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24028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313432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017520"/>
            <a:ext cx="457200" cy="5029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01752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090672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Technology Stack  (Frontend)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794760"/>
            <a:ext cx="457200" cy="5029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79476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867912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Technology Stack  (Backend &amp; AI)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572000"/>
            <a:ext cx="457200" cy="5029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57200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645152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AI Intent Pipeline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349240"/>
            <a:ext cx="457200" cy="5029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534924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422392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Smart Filtering &amp; Sorting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1463040"/>
            <a:ext cx="457200" cy="5029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146304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40" y="1536192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Live Data Scraping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2240280"/>
            <a:ext cx="457200" cy="5029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224028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0" y="2313432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Core UI Features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3017520"/>
            <a:ext cx="457200" cy="5029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301752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09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49440" y="3090672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Advanced Features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3794760"/>
            <a:ext cx="457200" cy="5029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0" y="379476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49440" y="3867912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Data Flow Diagram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0" y="4572000"/>
            <a:ext cx="457200" cy="5029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0" y="457200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49440" y="4645152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Limitations &amp; Future Scope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0" y="5349240"/>
            <a:ext cx="457200" cy="5029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0" y="534924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49440" y="5422392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473952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DD"/>
                </a:solidFill>
              </a:rPr>
              <a:t>AI Chat Bot Based Bus Ticketing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1672" y="647395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BBDD"/>
                </a:solidFill>
              </a:rPr>
              <a:t>3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AA"/>
                </a:solidFill>
              </a:rPr>
              <a:t>SLIDE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Project Overview &amp; Problem Statement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34440"/>
            <a:ext cx="1462674" cy="36576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417320"/>
            <a:ext cx="5394960" cy="2286000"/>
          </a:xfrm>
          <a:prstGeom prst="rect">
            <a:avLst/>
          </a:prstGeom>
          <a:solidFill>
            <a:srgbClr val="1A1E3A"/>
          </a:solidFill>
          <a:ln w="12700">
            <a:solidFill>
              <a:srgbClr val="E9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527048"/>
            <a:ext cx="5120640" cy="2066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94560"/>
                </a:solidFill>
              </a:rPr>
              <a:t>The Problem</a:t>
            </a:r>
          </a:p>
          <a:p>
            <a:pPr algn="l"/>
            <a:r>
              <a:rPr sz="1300" b="0">
                <a:solidFill>
                  <a:srgbClr val="DDDDFF"/>
                </a:solidFill>
              </a:rPr>
              <a:t>  Bus booking in India is fragmented across RedBus, AbhiBus, MakeMyTrip, etc.</a:t>
            </a:r>
          </a:p>
          <a:p>
            <a:pPr algn="l"/>
            <a:r>
              <a:rPr sz="1300" b="0">
                <a:solidFill>
                  <a:srgbClr val="DDDDFF"/>
                </a:solidFill>
              </a:rPr>
              <a:t>  Users must manually filter by price, seat type, operator, timing.</a:t>
            </a:r>
          </a:p>
          <a:p>
            <a:pPr algn="l"/>
            <a:r>
              <a:rPr sz="1300" b="0">
                <a:solidFill>
                  <a:srgbClr val="DDDDFF"/>
                </a:solidFill>
              </a:rPr>
              <a:t>  Non-technical travellers find complex portals confusing.</a:t>
            </a:r>
          </a:p>
          <a:p>
            <a:pPr algn="l"/>
            <a:r>
              <a:rPr sz="1300" b="0">
                <a:solidFill>
                  <a:srgbClr val="DDDDFF"/>
                </a:solidFill>
              </a:rPr>
              <a:t>  No single unified interface that understands plain English.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417320"/>
            <a:ext cx="5394960" cy="2286000"/>
          </a:xfrm>
          <a:prstGeom prst="rect">
            <a:avLst/>
          </a:prstGeom>
          <a:solidFill>
            <a:srgbClr val="1A1E3A"/>
          </a:solidFill>
          <a:ln w="127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1527048"/>
            <a:ext cx="5120640" cy="2066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D4AA"/>
                </a:solidFill>
              </a:rPr>
              <a:t>Our Solution</a:t>
            </a:r>
          </a:p>
          <a:p>
            <a:pPr algn="l"/>
            <a:r>
              <a:rPr sz="1300" b="0">
                <a:solidFill>
                  <a:srgbClr val="DDDDFF"/>
                </a:solidFill>
              </a:rPr>
              <a:t>  A smart AI chatbot that accepts plain English queries.</a:t>
            </a:r>
          </a:p>
          <a:p>
            <a:pPr algn="l"/>
            <a:r>
              <a:rPr sz="1300" b="0">
                <a:solidFill>
                  <a:srgbClr val="DDDDFF"/>
                </a:solidFill>
              </a:rPr>
              <a:t>  Extracts travel intent, filters, dates automatically.</a:t>
            </a:r>
          </a:p>
          <a:p>
            <a:pPr algn="l"/>
            <a:r>
              <a:rPr sz="1300" b="0">
                <a:solidFill>
                  <a:srgbClr val="DDDDFF"/>
                </a:solidFill>
              </a:rPr>
              <a:t>  Fetches live data from RedBus via Playwright scraping.</a:t>
            </a:r>
          </a:p>
          <a:p>
            <a:pPr algn="l"/>
            <a:r>
              <a:rPr sz="1300" b="0">
                <a:solidFill>
                  <a:srgbClr val="DDDDFF"/>
                </a:solidFill>
              </a:rPr>
              <a:t>  Presents clean, filtered, sorted results instantly.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931920"/>
            <a:ext cx="11155680" cy="105156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005072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1">
                <a:solidFill>
                  <a:srgbClr val="F5A623"/>
                </a:solidFill>
              </a:rPr>
              <a:t>"Find me the cheapest AC bus from Madurai to Chennai tomorrow"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46227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BCCFF"/>
                </a:solidFill>
              </a:rPr>
              <a:t>— The system understands this, fetches live data, filters, and shows results in seconds.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212080"/>
            <a:ext cx="2651760" cy="822960"/>
          </a:xfrm>
          <a:prstGeom prst="rect">
            <a:avLst/>
          </a:prstGeom>
          <a:solidFill>
            <a:srgbClr val="1E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5212080"/>
            <a:ext cx="73152" cy="82296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5230368"/>
            <a:ext cx="23774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Natural Language
Interface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91840" y="5212080"/>
            <a:ext cx="2651760" cy="822960"/>
          </a:xfrm>
          <a:prstGeom prst="rect">
            <a:avLst/>
          </a:prstGeom>
          <a:solidFill>
            <a:srgbClr val="1E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91840" y="5212080"/>
            <a:ext cx="73152" cy="82296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74720" y="5230368"/>
            <a:ext cx="23774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Live Real-Time
Bus Data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0" y="5212080"/>
            <a:ext cx="2651760" cy="822960"/>
          </a:xfrm>
          <a:prstGeom prst="rect">
            <a:avLst/>
          </a:prstGeom>
          <a:solidFill>
            <a:srgbClr val="1E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26480" y="5212080"/>
            <a:ext cx="73152" cy="8229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5230368"/>
            <a:ext cx="23774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Smart AI
Filtering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61120" y="5212080"/>
            <a:ext cx="2651760" cy="822960"/>
          </a:xfrm>
          <a:prstGeom prst="rect">
            <a:avLst/>
          </a:prstGeom>
          <a:solidFill>
            <a:srgbClr val="1E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61120" y="5212080"/>
            <a:ext cx="73152" cy="82296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0" y="5230368"/>
            <a:ext cx="23774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Premium
UI/UX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473952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DD"/>
                </a:solidFill>
              </a:rPr>
              <a:t>AI Chat Bot Based Bus Ticketing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1672" y="647395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BBDD"/>
                </a:solidFill>
              </a:rPr>
              <a:t>4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AA"/>
                </a:solidFill>
              </a:rPr>
              <a:t>SLIDE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34440"/>
            <a:ext cx="1462674" cy="36576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417320"/>
            <a:ext cx="11247120" cy="804672"/>
          </a:xfrm>
          <a:prstGeom prst="rect">
            <a:avLst/>
          </a:prstGeom>
          <a:solidFill>
            <a:srgbClr val="16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91440" cy="80467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472184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C63FF"/>
                </a:solidFill>
              </a:rPr>
              <a:t>LAYER 1 — Frontend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81965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FF"/>
                </a:solidFill>
              </a:rPr>
              <a:t>React 18 + TypeScript + Vite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66160" y="1691640"/>
            <a:ext cx="457200" cy="54864"/>
          </a:xfrm>
          <a:prstGeom prst="rect">
            <a:avLst/>
          </a:prstGeom>
          <a:solidFill>
            <a:srgbClr val="4444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0" y="1618488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User Interface, Chat, Results, Map, Theme Toggle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350008"/>
            <a:ext cx="11247120" cy="804672"/>
          </a:xfrm>
          <a:prstGeom prst="rect">
            <a:avLst/>
          </a:prstGeom>
          <a:solidFill>
            <a:srgbClr val="16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2350008"/>
            <a:ext cx="91440" cy="80467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40487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AA"/>
                </a:solidFill>
              </a:rPr>
              <a:t>LAYER 2 — Backend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275234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FF"/>
                </a:solidFill>
              </a:rPr>
              <a:t>FastAPI + Python 3.11+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66160" y="2624328"/>
            <a:ext cx="457200" cy="54864"/>
          </a:xfrm>
          <a:prstGeom prst="rect">
            <a:avLst/>
          </a:prstGeom>
          <a:solidFill>
            <a:srgbClr val="4444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0" y="2551176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Intent Parsing, API Routing, Filter &amp; Sort Logic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282696"/>
            <a:ext cx="11247120" cy="804672"/>
          </a:xfrm>
          <a:prstGeom prst="rect">
            <a:avLst/>
          </a:prstGeom>
          <a:solidFill>
            <a:srgbClr val="16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3282696"/>
            <a:ext cx="91440" cy="8046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333756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</a:rPr>
              <a:t>LAYER 3 — AI Engine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368503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FF"/>
                </a:solidFill>
              </a:rPr>
              <a:t>OpenRouter (LLM) + Rule Parser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66160" y="3557016"/>
            <a:ext cx="457200" cy="54864"/>
          </a:xfrm>
          <a:prstGeom prst="rect">
            <a:avLst/>
          </a:prstGeom>
          <a:solidFill>
            <a:srgbClr val="4444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0" y="3483864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Natural Language Understanding, Intent Extraction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215384"/>
            <a:ext cx="11247120" cy="804672"/>
          </a:xfrm>
          <a:prstGeom prst="rect">
            <a:avLst/>
          </a:prstGeom>
          <a:solidFill>
            <a:srgbClr val="16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4215384"/>
            <a:ext cx="91440" cy="804672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427024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94560"/>
                </a:solidFill>
              </a:rPr>
              <a:t>LAYER 4 — Scraper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46177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FF"/>
                </a:solidFill>
              </a:rPr>
              <a:t>Playwright (async)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566160" y="4489704"/>
            <a:ext cx="457200" cy="54864"/>
          </a:xfrm>
          <a:prstGeom prst="rect">
            <a:avLst/>
          </a:prstGeom>
          <a:solidFill>
            <a:srgbClr val="4444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0" y="4416552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Live Bus Data from RedBus GraphQL API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148072"/>
            <a:ext cx="11247120" cy="804672"/>
          </a:xfrm>
          <a:prstGeom prst="rect">
            <a:avLst/>
          </a:prstGeom>
          <a:solidFill>
            <a:srgbClr val="16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" y="5148072"/>
            <a:ext cx="91440" cy="804672"/>
          </a:xfrm>
          <a:prstGeom prst="rect">
            <a:avLst/>
          </a:prstGeom>
          <a:solidFill>
            <a:srgbClr val="CC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5202936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C77FF"/>
                </a:solidFill>
              </a:rPr>
              <a:t>LAYER 5 — Storage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555040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FF"/>
                </a:solidFill>
              </a:rPr>
              <a:t>localStorage + .env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566160" y="5422392"/>
            <a:ext cx="457200" cy="54864"/>
          </a:xfrm>
          <a:prstGeom prst="rect">
            <a:avLst/>
          </a:prstGeom>
          <a:solidFill>
            <a:srgbClr val="4444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800" y="5349240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Theme, Sessions, Booking History, API Keys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473952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DD"/>
                </a:solidFill>
              </a:rPr>
              <a:t>AI Chat Bot Based Bus Ticketing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1672" y="647395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BBDD"/>
                </a:solidFill>
              </a:rPr>
              <a:t>5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AA"/>
                </a:solidFill>
              </a:rPr>
              <a:t>SLIDE 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Technology Stack — Frontend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34440"/>
            <a:ext cx="1462674" cy="36576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463040"/>
            <a:ext cx="2651760" cy="1828800"/>
          </a:xfrm>
          <a:prstGeom prst="rect">
            <a:avLst/>
          </a:prstGeom>
          <a:solidFill>
            <a:srgbClr val="16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463040"/>
            <a:ext cx="2651760" cy="9144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64592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C63FF"/>
                </a:solidFill>
              </a:rPr>
              <a:t>React 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057400"/>
            <a:ext cx="24688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FF"/>
                </a:solidFill>
              </a:rPr>
              <a:t>Component-based UI framework.
Handles state, routing &amp; rendering.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46120" y="1463040"/>
            <a:ext cx="2651760" cy="1828800"/>
          </a:xfrm>
          <a:prstGeom prst="rect">
            <a:avLst/>
          </a:prstGeom>
          <a:solidFill>
            <a:srgbClr val="16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46120" y="1463040"/>
            <a:ext cx="2651760" cy="9144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64592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AA"/>
                </a:solidFill>
              </a:rPr>
              <a:t>TypeScript 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2057400"/>
            <a:ext cx="24688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FF"/>
                </a:solidFill>
              </a:rPr>
              <a:t>Strongly-typed JavaScript.
Catch bugs at compile time.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1463040"/>
            <a:ext cx="2651760" cy="1828800"/>
          </a:xfrm>
          <a:prstGeom prst="rect">
            <a:avLst/>
          </a:prstGeom>
          <a:solidFill>
            <a:srgbClr val="16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1463040"/>
            <a:ext cx="2651760" cy="914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164592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A623"/>
                </a:solidFill>
              </a:rPr>
              <a:t>Vite 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2057400"/>
            <a:ext cx="24688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FF"/>
                </a:solidFill>
              </a:rPr>
              <a:t>Ultra-fast build tool &amp;
development server (HMR).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06840" y="1463040"/>
            <a:ext cx="2651760" cy="1828800"/>
          </a:xfrm>
          <a:prstGeom prst="rect">
            <a:avLst/>
          </a:prstGeom>
          <a:solidFill>
            <a:srgbClr val="16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06840" y="1463040"/>
            <a:ext cx="2651760" cy="9144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98280" y="164592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94560"/>
                </a:solidFill>
              </a:rPr>
              <a:t>Vanilla CSS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98280" y="2057400"/>
            <a:ext cx="24688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FF"/>
                </a:solidFill>
              </a:rPr>
              <a:t>No Tailwind — full CSS control.
Glassmorphism, variables, animations.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566160"/>
            <a:ext cx="2651760" cy="1828800"/>
          </a:xfrm>
          <a:prstGeom prst="rect">
            <a:avLst/>
          </a:prstGeom>
          <a:solidFill>
            <a:srgbClr val="16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760" y="3566160"/>
            <a:ext cx="2651760" cy="9144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37490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CAF50"/>
                </a:solidFill>
              </a:rPr>
              <a:t>Leaflet.js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160520"/>
            <a:ext cx="24688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FF"/>
                </a:solidFill>
              </a:rPr>
              <a:t>Interactive map for tourist spots
near the destination city.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46120" y="3566160"/>
            <a:ext cx="2651760" cy="1828800"/>
          </a:xfrm>
          <a:prstGeom prst="rect">
            <a:avLst/>
          </a:prstGeom>
          <a:solidFill>
            <a:srgbClr val="16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46120" y="3566160"/>
            <a:ext cx="2651760" cy="91440"/>
          </a:xfrm>
          <a:prstGeom prst="rect">
            <a:avLst/>
          </a:prstGeom>
          <a:solidFill>
            <a:srgbClr val="03A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37560" y="37490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3A9F4"/>
                </a:solidFill>
              </a:rPr>
              <a:t>Lucide React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37560" y="4160520"/>
            <a:ext cx="24688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FF"/>
                </a:solidFill>
              </a:rPr>
              <a:t>Clean icon library for
UI elements and badges.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26480" y="3566160"/>
            <a:ext cx="2651760" cy="1828800"/>
          </a:xfrm>
          <a:prstGeom prst="rect">
            <a:avLst/>
          </a:prstGeom>
          <a:solidFill>
            <a:srgbClr val="16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26480" y="3566160"/>
            <a:ext cx="2651760" cy="9144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17920" y="37490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5722"/>
                </a:solidFill>
              </a:rPr>
              <a:t>Web Speech API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0" y="4160520"/>
            <a:ext cx="24688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FF"/>
                </a:solidFill>
              </a:rPr>
              <a:t>Voice input support for
hands-free bus search.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006840" y="3566160"/>
            <a:ext cx="2651760" cy="1828800"/>
          </a:xfrm>
          <a:prstGeom prst="rect">
            <a:avLst/>
          </a:prstGeom>
          <a:solidFill>
            <a:srgbClr val="16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006840" y="3566160"/>
            <a:ext cx="2651760" cy="9144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098280" y="37490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C107"/>
                </a:solidFill>
              </a:rPr>
              <a:t>localStorage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98280" y="4160520"/>
            <a:ext cx="24688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FF"/>
                </a:solidFill>
              </a:rPr>
              <a:t>Persist theme, history,
chat sessions client-side.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473952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DD"/>
                </a:solidFill>
              </a:rPr>
              <a:t>AI Chat Bot Based Bus Ticketing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1672" y="647395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BBDD"/>
                </a:solidFill>
              </a:rPr>
              <a:t>6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AA"/>
                </a:solidFill>
              </a:rPr>
              <a:t>SLIDE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Technology Stack — Backend &amp; AI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34440"/>
            <a:ext cx="1462674" cy="36576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463040"/>
            <a:ext cx="5577840" cy="594360"/>
          </a:xfrm>
          <a:prstGeom prst="rect">
            <a:avLst/>
          </a:prstGeom>
          <a:solidFill>
            <a:srgbClr val="16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463040"/>
            <a:ext cx="73152" cy="59436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49961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C63FF"/>
                </a:solidFill>
              </a:rPr>
              <a:t>Python 3.11+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159105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Core backend language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139696"/>
            <a:ext cx="5577840" cy="594360"/>
          </a:xfrm>
          <a:prstGeom prst="rect">
            <a:avLst/>
          </a:prstGeom>
          <a:solidFill>
            <a:srgbClr val="16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2139696"/>
            <a:ext cx="73152" cy="59436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17627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AA"/>
                </a:solidFill>
              </a:rPr>
              <a:t>FastAPI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226771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REST API framework — async, fast, auto-docs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816352"/>
            <a:ext cx="5577840" cy="594360"/>
          </a:xfrm>
          <a:prstGeom prst="rect">
            <a:avLst/>
          </a:prstGeom>
          <a:solidFill>
            <a:srgbClr val="16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2816352"/>
            <a:ext cx="73152" cy="5943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285292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</a:rPr>
              <a:t>Uvicorn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51760" y="294436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ASGI server running the FastAPI app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493008"/>
            <a:ext cx="5577840" cy="594360"/>
          </a:xfrm>
          <a:prstGeom prst="rect">
            <a:avLst/>
          </a:prstGeom>
          <a:solidFill>
            <a:srgbClr val="16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3493008"/>
            <a:ext cx="73152" cy="59436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352958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94560"/>
                </a:solidFill>
              </a:rPr>
              <a:t>Pydantic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51760" y="362102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Data validation &amp; request schemas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169664"/>
            <a:ext cx="5577840" cy="594360"/>
          </a:xfrm>
          <a:prstGeom prst="rect">
            <a:avLst/>
          </a:prstGeom>
          <a:solidFill>
            <a:srgbClr val="16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760" y="4169664"/>
            <a:ext cx="73152" cy="594360"/>
          </a:xfrm>
          <a:prstGeom prst="rect">
            <a:avLst/>
          </a:prstGeom>
          <a:solidFill>
            <a:srgbClr val="03A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42062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3A9F4"/>
                </a:solidFill>
              </a:rPr>
              <a:t>httpx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51760" y="42976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Async HTTP client for AI API calls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4846320"/>
            <a:ext cx="5577840" cy="594360"/>
          </a:xfrm>
          <a:prstGeom prst="rect">
            <a:avLst/>
          </a:prstGeom>
          <a:solidFill>
            <a:srgbClr val="16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65760" y="4846320"/>
            <a:ext cx="73152" cy="59436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488289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CAF50"/>
                </a:solidFill>
              </a:rPr>
              <a:t>python-dotenv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51760" y="497433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Load API keys from .env file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5522975"/>
            <a:ext cx="5577840" cy="594360"/>
          </a:xfrm>
          <a:prstGeom prst="rect">
            <a:avLst/>
          </a:prstGeom>
          <a:solidFill>
            <a:srgbClr val="16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65760" y="5522975"/>
            <a:ext cx="73152" cy="59436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5559551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5722"/>
                </a:solidFill>
              </a:rPr>
              <a:t>Docker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651760" y="5650991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Containerisation for easy deployment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17920" y="1463040"/>
            <a:ext cx="5577840" cy="594360"/>
          </a:xfrm>
          <a:prstGeom prst="rect">
            <a:avLst/>
          </a:prstGeom>
          <a:solidFill>
            <a:srgbClr val="16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217920" y="1463040"/>
            <a:ext cx="73152" cy="59436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0" y="1499616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C63FF"/>
                </a:solidFill>
              </a:rPr>
              <a:t>OpenRouter API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03920" y="159105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Gateway to 100+ free/paid LLMs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17920" y="2139696"/>
            <a:ext cx="5577840" cy="594360"/>
          </a:xfrm>
          <a:prstGeom prst="rect">
            <a:avLst/>
          </a:prstGeom>
          <a:solidFill>
            <a:srgbClr val="16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17920" y="2139696"/>
            <a:ext cx="73152" cy="59436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0" y="2176272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AA"/>
                </a:solidFill>
              </a:rPr>
              <a:t>Nous Hermes 3
Llama 3.1 405B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03920" y="226771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Primary AI model for intent parsing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17920" y="2816352"/>
            <a:ext cx="5577840" cy="594360"/>
          </a:xfrm>
          <a:prstGeom prst="rect">
            <a:avLst/>
          </a:prstGeom>
          <a:solidFill>
            <a:srgbClr val="16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217920" y="2816352"/>
            <a:ext cx="73152" cy="5943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0" y="2852928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</a:rPr>
              <a:t>Rule-Based Parser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03920" y="294436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Regex fallback when AI hits rate limit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17920" y="3493008"/>
            <a:ext cx="5577840" cy="594360"/>
          </a:xfrm>
          <a:prstGeom prst="rect">
            <a:avLst/>
          </a:prstGeom>
          <a:solidFill>
            <a:srgbClr val="16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217920" y="3493008"/>
            <a:ext cx="73152" cy="59436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00800" y="3529584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94560"/>
                </a:solidFill>
              </a:rPr>
              <a:t>Playwright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03920" y="362102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Async browser automation for scraping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217920" y="4169664"/>
            <a:ext cx="5577840" cy="594360"/>
          </a:xfrm>
          <a:prstGeom prst="rect">
            <a:avLst/>
          </a:prstGeom>
          <a:solidFill>
            <a:srgbClr val="16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217920" y="4169664"/>
            <a:ext cx="73152" cy="59436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00800" y="42062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107"/>
                </a:solidFill>
              </a:rPr>
              <a:t>RedBus GraphQL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503920" y="42976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Live bus data interception via API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217920" y="4846320"/>
            <a:ext cx="5577840" cy="594360"/>
          </a:xfrm>
          <a:prstGeom prst="rect">
            <a:avLst/>
          </a:prstGeom>
          <a:solidFill>
            <a:srgbClr val="16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217920" y="4846320"/>
            <a:ext cx="73152" cy="59436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400800" y="4882896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CAF50"/>
                </a:solidFill>
              </a:rPr>
              <a:t>BeautifulSoup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503920" y="497433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HTML parsing fallback if needed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217920" y="5522975"/>
            <a:ext cx="5577840" cy="594360"/>
          </a:xfrm>
          <a:prstGeom prst="rect">
            <a:avLst/>
          </a:prstGeom>
          <a:solidFill>
            <a:srgbClr val="16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217920" y="5522975"/>
            <a:ext cx="73152" cy="594360"/>
          </a:xfrm>
          <a:prstGeom prst="rect">
            <a:avLst/>
          </a:prstGeom>
          <a:solidFill>
            <a:srgbClr val="AA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00800" y="5559551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AAAFF"/>
                </a:solidFill>
              </a:rPr>
              <a:t>Git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503920" y="5650991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Version control throughout development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473952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DD"/>
                </a:solidFill>
              </a:rPr>
              <a:t>AI Chat Bot Based Bus Ticketing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1672" y="647395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BBDD"/>
                </a:solidFill>
              </a:rPr>
              <a:t>7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AA"/>
                </a:solidFill>
              </a:rPr>
              <a:t>SLIDE 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AI Intent Pipeline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34440"/>
            <a:ext cx="1462674" cy="36576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463040"/>
            <a:ext cx="3657600" cy="2011680"/>
          </a:xfrm>
          <a:prstGeom prst="rect">
            <a:avLst/>
          </a:prstGeom>
          <a:solidFill>
            <a:srgbClr val="16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463040"/>
            <a:ext cx="3657600" cy="9144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645920"/>
            <a:ext cx="411480" cy="41148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6459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16916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C63FF"/>
                </a:solidFill>
              </a:rPr>
              <a:t>User Input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14884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FF"/>
                </a:solidFill>
              </a:rPr>
              <a:t>User types or speaks a query like
'AC bus from Madurai to Chennai tomorrow'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69080" y="2286000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6C63FF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80" y="1463040"/>
            <a:ext cx="3657600" cy="2011680"/>
          </a:xfrm>
          <a:prstGeom prst="rect">
            <a:avLst/>
          </a:prstGeom>
          <a:solidFill>
            <a:srgbClr val="16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97680" y="1463040"/>
            <a:ext cx="3657600" cy="9144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434840" y="1645920"/>
            <a:ext cx="411480" cy="41148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34840" y="16459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0" y="16916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AA"/>
                </a:solidFill>
              </a:rPr>
              <a:t>Context Merge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214884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FF"/>
                </a:solidFill>
              </a:rPr>
              <a:t>Previous conversation context (cities,
dates, filters) merged with new query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01000" y="2286000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6C63FF"/>
                </a:solidFill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0" y="1463040"/>
            <a:ext cx="3657600" cy="2011680"/>
          </a:xfrm>
          <a:prstGeom prst="rect">
            <a:avLst/>
          </a:prstGeom>
          <a:solidFill>
            <a:srgbClr val="16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29600" y="1463040"/>
            <a:ext cx="3657600" cy="914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366760" y="1645920"/>
            <a:ext cx="411480" cy="4114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66760" y="16459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0" y="16916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AI Model Call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214884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FF"/>
                </a:solidFill>
              </a:rPr>
              <a:t>Nous Hermes 3 (via OpenRouter) returns
structured JSON: {from, to, date, filter, sort_by}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3749039"/>
            <a:ext cx="3657600" cy="2011680"/>
          </a:xfrm>
          <a:prstGeom prst="rect">
            <a:avLst/>
          </a:prstGeom>
          <a:solidFill>
            <a:srgbClr val="16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65760" y="3749039"/>
            <a:ext cx="3657600" cy="9144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02920" y="3931919"/>
            <a:ext cx="411480" cy="41148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3931919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3977639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94560"/>
                </a:solidFill>
              </a:rPr>
              <a:t>Rate-Limit Fallback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4434839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FF"/>
                </a:solidFill>
              </a:rPr>
              <a:t>On HTTP 429 or empty response, tries
next model in chain automatically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69080" y="4571999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6C63FF"/>
                </a:solidFill>
              </a:rPr>
              <a:t>→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97680" y="3749039"/>
            <a:ext cx="3657600" cy="2011680"/>
          </a:xfrm>
          <a:prstGeom prst="rect">
            <a:avLst/>
          </a:prstGeom>
          <a:solidFill>
            <a:srgbClr val="16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297680" y="3749039"/>
            <a:ext cx="3657600" cy="91440"/>
          </a:xfrm>
          <a:prstGeom prst="rect">
            <a:avLst/>
          </a:prstGeom>
          <a:solidFill>
            <a:srgbClr val="CC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434840" y="3931919"/>
            <a:ext cx="411480" cy="411480"/>
          </a:xfrm>
          <a:prstGeom prst="rect">
            <a:avLst/>
          </a:prstGeom>
          <a:solidFill>
            <a:srgbClr val="CC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34840" y="3931919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937760" y="3977639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C77FF"/>
                </a:solidFill>
              </a:rPr>
              <a:t>Rule-Based Parser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34840" y="4434839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FF"/>
                </a:solidFill>
              </a:rPr>
              <a:t>Final fallback: regex extracts cities,
dates, filter keywords, sort preferences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01000" y="4571999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6C63FF"/>
                </a:solidFill>
              </a:rPr>
              <a:t>→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29600" y="3749039"/>
            <a:ext cx="3657600" cy="2011680"/>
          </a:xfrm>
          <a:prstGeom prst="rect">
            <a:avLst/>
          </a:prstGeom>
          <a:solidFill>
            <a:srgbClr val="16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229600" y="3749039"/>
            <a:ext cx="3657600" cy="91440"/>
          </a:xfrm>
          <a:prstGeom prst="rect">
            <a:avLst/>
          </a:prstGeom>
          <a:solidFill>
            <a:srgbClr val="03A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366760" y="3931919"/>
            <a:ext cx="411480" cy="411480"/>
          </a:xfrm>
          <a:prstGeom prst="rect">
            <a:avLst/>
          </a:prstGeom>
          <a:solidFill>
            <a:srgbClr val="03A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366760" y="3931919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869680" y="3977639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3A9F4"/>
                </a:solidFill>
              </a:rPr>
              <a:t>Ready to Search?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66760" y="4434839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FF"/>
                </a:solidFill>
              </a:rPr>
              <a:t>If from/to/date all collected → scrape.
Else → ask follow-up with quick replies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473952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DD"/>
                </a:solidFill>
              </a:rPr>
              <a:t>AI Chat Bot Based Bus Ticketing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1672" y="647395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BBDD"/>
                </a:solidFill>
              </a:rPr>
              <a:t>8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AA"/>
                </a:solidFill>
              </a:rPr>
              <a:t>SLIDE 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Smart AI Filtering &amp; Sorting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34440"/>
            <a:ext cx="1462674" cy="36576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463040"/>
            <a:ext cx="2697480" cy="1965960"/>
          </a:xfrm>
          <a:prstGeom prst="rect">
            <a:avLst/>
          </a:prstGeom>
          <a:solidFill>
            <a:srgbClr val="16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463040"/>
            <a:ext cx="2697480" cy="8229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162763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💰 CHEAPEST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2029968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FF"/>
                </a:solidFill>
              </a:rPr>
              <a:t>Sorts all results by price ascending.
Cheapest bus always shown first.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91840" y="1463040"/>
            <a:ext cx="2697480" cy="1965960"/>
          </a:xfrm>
          <a:prstGeom prst="rect">
            <a:avLst/>
          </a:prstGeom>
          <a:solidFill>
            <a:srgbClr val="16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91840" y="1463040"/>
            <a:ext cx="2697480" cy="8229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01568" y="162763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AA"/>
                </a:solidFill>
              </a:rPr>
              <a:t>❄️ AC BUS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01568" y="2029968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FF"/>
                </a:solidFill>
              </a:rPr>
              <a:t>Filters to show only AC-equipped buses.
'BEST AC BUS' badge on top result.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463040"/>
            <a:ext cx="2697480" cy="1965960"/>
          </a:xfrm>
          <a:prstGeom prst="rect">
            <a:avLst/>
          </a:prstGeom>
          <a:solidFill>
            <a:srgbClr val="16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1463040"/>
            <a:ext cx="2697480" cy="82296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7648" y="162763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C63FF"/>
                </a:solidFill>
              </a:rPr>
              <a:t>🛏 SLEEPER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648" y="2029968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FF"/>
                </a:solidFill>
              </a:rPr>
              <a:t>Filters to sleeper-only buses.
'BEST SLEEPER' badge shown.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0" y="1463040"/>
            <a:ext cx="2697480" cy="1965960"/>
          </a:xfrm>
          <a:prstGeom prst="rect">
            <a:avLst/>
          </a:prstGeom>
          <a:solidFill>
            <a:srgbClr val="16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0" y="1463040"/>
            <a:ext cx="2697480" cy="82296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53728" y="162763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CAF50"/>
                </a:solidFill>
              </a:rPr>
              <a:t>🚌 NON-AC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3728" y="2029968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FF"/>
                </a:solidFill>
              </a:rPr>
              <a:t>Shows economy non-AC buses.
Great for budget travellers.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783080" y="3703320"/>
            <a:ext cx="2697480" cy="1965960"/>
          </a:xfrm>
          <a:prstGeom prst="rect">
            <a:avLst/>
          </a:prstGeom>
          <a:solidFill>
            <a:srgbClr val="16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783080" y="3703320"/>
            <a:ext cx="2697480" cy="82296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892808" y="386791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5722"/>
                </a:solidFill>
              </a:rPr>
              <a:t>✨ VOLVO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92808" y="4270248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FF"/>
                </a:solidFill>
              </a:rPr>
              <a:t>Filters luxury/Volvo buses.
Premium operator highlight.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709160" y="3703320"/>
            <a:ext cx="2697480" cy="1965960"/>
          </a:xfrm>
          <a:prstGeom prst="rect">
            <a:avLst/>
          </a:prstGeom>
          <a:solidFill>
            <a:srgbClr val="16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709160" y="3703320"/>
            <a:ext cx="2697480" cy="82296"/>
          </a:xfrm>
          <a:prstGeom prst="rect">
            <a:avLst/>
          </a:prstGeom>
          <a:solidFill>
            <a:srgbClr val="03A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18888" y="386791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3A9F4"/>
                </a:solidFill>
              </a:rPr>
              <a:t>⚡ FASTEST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18888" y="4270248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FF"/>
                </a:solidFill>
              </a:rPr>
              <a:t>Sorts by journey duration.
Shortest trip time shown first.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635240" y="3703320"/>
            <a:ext cx="2697480" cy="1965960"/>
          </a:xfrm>
          <a:prstGeom prst="rect">
            <a:avLst/>
          </a:prstGeom>
          <a:solidFill>
            <a:srgbClr val="16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635240" y="3703320"/>
            <a:ext cx="2697480" cy="82296"/>
          </a:xfrm>
          <a:prstGeom prst="rect">
            <a:avLst/>
          </a:prstGeom>
          <a:solidFill>
            <a:srgbClr val="CC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44968" y="386791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C77FF"/>
                </a:solidFill>
              </a:rPr>
              <a:t>🌙 NIGHT BUS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44968" y="4270248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FF"/>
                </a:solidFill>
              </a:rPr>
              <a:t>Shows buses departing after 8pm.
Ideal for overnight travel.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473952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DD"/>
                </a:solidFill>
              </a:rPr>
              <a:t>AI Chat Bot Based Bus Ticketing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1672" y="647395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BBDD"/>
                </a:solidFill>
              </a:rPr>
              <a:t>9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AA"/>
                </a:solidFill>
              </a:rPr>
              <a:t>SLIDE 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Live Data Scraping — How It Works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34440"/>
            <a:ext cx="1462674" cy="36576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463040"/>
            <a:ext cx="6858000" cy="685800"/>
          </a:xfrm>
          <a:prstGeom prst="rect">
            <a:avLst/>
          </a:prstGeom>
          <a:solidFill>
            <a:srgbClr val="16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463040"/>
            <a:ext cx="73152" cy="6858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53619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C63FF"/>
                </a:solidFill>
              </a:rPr>
              <a:t>Step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1627632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Playwright launches headless Chromium browser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231136"/>
            <a:ext cx="6858000" cy="685800"/>
          </a:xfrm>
          <a:prstGeom prst="rect">
            <a:avLst/>
          </a:prstGeom>
          <a:solidFill>
            <a:srgbClr val="16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2231136"/>
            <a:ext cx="73152" cy="6858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30428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4AA"/>
                </a:solidFill>
              </a:rPr>
              <a:t>Step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2395728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Navigates to RedBus search URL with route + date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999232"/>
            <a:ext cx="6858000" cy="685800"/>
          </a:xfrm>
          <a:prstGeom prst="rect">
            <a:avLst/>
          </a:prstGeom>
          <a:solidFill>
            <a:srgbClr val="16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2999232"/>
            <a:ext cx="73152" cy="6858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07238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A623"/>
                </a:solidFill>
              </a:rPr>
              <a:t>Step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3163824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Intercepts the internal GraphQL API response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767328"/>
            <a:ext cx="6858000" cy="685800"/>
          </a:xfrm>
          <a:prstGeom prst="rect">
            <a:avLst/>
          </a:prstGeom>
          <a:solidFill>
            <a:srgbClr val="16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3767328"/>
            <a:ext cx="73152" cy="6858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384048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94560"/>
                </a:solidFill>
              </a:rPr>
              <a:t>Step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00200" y="393192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Parses JSON: operator, price, seats, times, URLs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535424"/>
            <a:ext cx="6858000" cy="685800"/>
          </a:xfrm>
          <a:prstGeom prst="rect">
            <a:avLst/>
          </a:prstGeom>
          <a:solidFill>
            <a:srgbClr val="16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760" y="4535424"/>
            <a:ext cx="73152" cy="6858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4608576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CAF50"/>
                </a:solidFill>
              </a:rPr>
              <a:t>Step 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4700016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Returns up to 10 real buses per query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5303520"/>
            <a:ext cx="6858000" cy="685800"/>
          </a:xfrm>
          <a:prstGeom prst="rect">
            <a:avLst/>
          </a:prstGeom>
          <a:solidFill>
            <a:srgbClr val="16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65760" y="5303520"/>
            <a:ext cx="73152" cy="685800"/>
          </a:xfrm>
          <a:prstGeom prst="rect">
            <a:avLst/>
          </a:prstGeom>
          <a:solidFill>
            <a:srgbClr val="CC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537667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77FF"/>
                </a:solidFill>
              </a:rPr>
              <a:t>Step 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00200" y="5468112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Results cached 10 sec to prevent duplicate calls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498079" y="1463040"/>
            <a:ext cx="4389120" cy="4754880"/>
          </a:xfrm>
          <a:prstGeom prst="rect">
            <a:avLst/>
          </a:prstGeom>
          <a:solidFill>
            <a:srgbClr val="141E3A"/>
          </a:solidFill>
          <a:ln w="127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35239" y="1572768"/>
            <a:ext cx="4114800" cy="4535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D4AA"/>
                </a:solidFill>
              </a:rPr>
              <a:t>Data Returned Per Bus</a:t>
            </a:r>
          </a:p>
          <a:p>
            <a:pPr algn="l"/>
            <a:r>
              <a:rPr sz="1200" b="0">
                <a:solidFill>
                  <a:srgbClr val="DDDDFF"/>
                </a:solidFill>
              </a:rPr>
              <a:t>    Bus operator name (e.g. SETC, FlixBus)</a:t>
            </a:r>
          </a:p>
          <a:p>
            <a:pPr algn="l"/>
            <a:r>
              <a:rPr sz="1200" b="0">
                <a:solidFill>
                  <a:srgbClr val="DDDDFF"/>
                </a:solidFill>
              </a:rPr>
              <a:t>    Departure &amp; arrival time</a:t>
            </a:r>
          </a:p>
          <a:p>
            <a:pPr algn="l"/>
            <a:r>
              <a:rPr sz="1200" b="0">
                <a:solidFill>
                  <a:srgbClr val="DDDDFF"/>
                </a:solidFill>
              </a:rPr>
              <a:t>    Journey duration</a:t>
            </a:r>
          </a:p>
          <a:p>
            <a:pPr algn="l"/>
            <a:r>
              <a:rPr sz="1200" b="0">
                <a:solidFill>
                  <a:srgbClr val="DDDDFF"/>
                </a:solidFill>
              </a:rPr>
              <a:t>    Price (in INR)</a:t>
            </a:r>
          </a:p>
          <a:p>
            <a:pPr algn="l"/>
            <a:r>
              <a:rPr sz="1200" b="0">
                <a:solidFill>
                  <a:srgbClr val="DDDDFF"/>
                </a:solidFill>
              </a:rPr>
              <a:t>    Seats available (+ urgency flag if &lt; 5)</a:t>
            </a:r>
          </a:p>
          <a:p>
            <a:pPr algn="l"/>
            <a:r>
              <a:rPr sz="1200" b="0">
                <a:solidFill>
                  <a:srgbClr val="DDDDFF"/>
                </a:solidFill>
              </a:rPr>
              <a:t>    Bus type (AC / Sleeper / Volvo / etc.)</a:t>
            </a:r>
          </a:p>
          <a:p>
            <a:pPr algn="l"/>
            <a:r>
              <a:rPr sz="1200" b="0">
                <a:solidFill>
                  <a:srgbClr val="DDDDFF"/>
                </a:solidFill>
              </a:rPr>
              <a:t>    Amenities (WiFi, charging, live tracking)</a:t>
            </a:r>
          </a:p>
          <a:p>
            <a:pPr algn="l"/>
            <a:r>
              <a:rPr sz="1200" b="0">
                <a:solidFill>
                  <a:srgbClr val="DDDDFF"/>
                </a:solidFill>
              </a:rPr>
              <a:t>    Direct booking URL to RedBus</a:t>
            </a:r>
          </a:p>
          <a:p>
            <a:pPr algn="l"/>
            <a:r>
              <a:rPr sz="1200" b="0">
                <a:solidFill>
                  <a:srgbClr val="DDDDFF"/>
                </a:solidFill>
              </a:rPr>
              <a:t>    Free cancellation flag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473952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DD"/>
                </a:solidFill>
              </a:rPr>
              <a:t>AI Chat Bot Based Bus Ticketing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1672" y="647395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BBDD"/>
                </a:solidFill>
              </a:rPr>
              <a:t>10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AA"/>
                </a:solidFill>
              </a:rPr>
              <a:t>SLIDE 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Core UI Features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34440"/>
            <a:ext cx="1462674" cy="36576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463040"/>
            <a:ext cx="3657600" cy="2011680"/>
          </a:xfrm>
          <a:prstGeom prst="rect">
            <a:avLst/>
          </a:prstGeom>
          <a:solidFill>
            <a:srgbClr val="16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463040"/>
            <a:ext cx="73152" cy="201168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4592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C63FF"/>
                </a:solidFill>
              </a:rPr>
              <a:t>Chat Interface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121408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FF"/>
                </a:solidFill>
              </a:rPr>
              <a:t>Multi-turn conversation with message history,
quick-reply chips, voice input &amp; bot responses.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1463040"/>
            <a:ext cx="3657600" cy="2011680"/>
          </a:xfrm>
          <a:prstGeom prst="rect">
            <a:avLst/>
          </a:prstGeom>
          <a:solidFill>
            <a:srgbClr val="16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1463040"/>
            <a:ext cx="73152" cy="201168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164592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AA"/>
                </a:solidFill>
              </a:rPr>
              <a:t>Bus Results Panel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2121408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FF"/>
                </a:solidFill>
              </a:rPr>
              <a:t>Ticket cards with operator logo, price, times,
seats, badges, save/expand/book actions.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1463040"/>
            <a:ext cx="3657600" cy="2011680"/>
          </a:xfrm>
          <a:prstGeom prst="rect">
            <a:avLst/>
          </a:prstGeom>
          <a:solidFill>
            <a:srgbClr val="16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0" y="1463040"/>
            <a:ext cx="73152" cy="20116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164592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A623"/>
                </a:solidFill>
              </a:rPr>
              <a:t>Smart Filter Badges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121408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FF"/>
                </a:solidFill>
              </a:rPr>
              <a:t>Active filter banner (AC / Cheapest / Sleeper)
with clear button. Badge on top result card.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749039"/>
            <a:ext cx="3657600" cy="2011680"/>
          </a:xfrm>
          <a:prstGeom prst="rect">
            <a:avLst/>
          </a:prstGeom>
          <a:solidFill>
            <a:srgbClr val="16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3749039"/>
            <a:ext cx="73152" cy="201168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3931919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94560"/>
                </a:solidFill>
              </a:rPr>
              <a:t>Dark / Light Theme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407407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FF"/>
                </a:solidFill>
              </a:rPr>
              <a:t>2026 glassmorphism design. Theme toggle button
saves preference in localStorage.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7680" y="3749039"/>
            <a:ext cx="3657600" cy="2011680"/>
          </a:xfrm>
          <a:prstGeom prst="rect">
            <a:avLst/>
          </a:prstGeom>
          <a:solidFill>
            <a:srgbClr val="16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97680" y="3749039"/>
            <a:ext cx="73152" cy="201168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80560" y="3931919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CAF50"/>
                </a:solidFill>
              </a:rPr>
              <a:t>Connecting Routes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4407407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FF"/>
                </a:solidFill>
              </a:rPr>
              <a:t>Auto-suggests 2-leg journey when no direct bus
exists (e.g. Chennai → Dindigul → Kodaikanal).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0" y="3749039"/>
            <a:ext cx="3657600" cy="2011680"/>
          </a:xfrm>
          <a:prstGeom prst="rect">
            <a:avLst/>
          </a:prstGeom>
          <a:solidFill>
            <a:srgbClr val="16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229600" y="3749039"/>
            <a:ext cx="73152" cy="2011680"/>
          </a:xfrm>
          <a:prstGeom prst="rect">
            <a:avLst/>
          </a:prstGeom>
          <a:solidFill>
            <a:srgbClr val="03A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80" y="3931919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3A9F4"/>
                </a:solidFill>
              </a:rPr>
              <a:t>Booking History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4407407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FF"/>
                </a:solidFill>
              </a:rPr>
              <a:t>In-browser booking tracker with confirmation IDs,
operator, date, seat, amount stored.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473952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DD"/>
                </a:solidFill>
              </a:rPr>
              <a:t>AI Chat Bot Based Bus Ticketing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1672" y="647395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BBDD"/>
                </a:solidFill>
              </a:rPr>
              <a:t>11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AA"/>
                </a:solidFill>
              </a:rPr>
              <a:t>SLIDE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Advanced Features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34440"/>
            <a:ext cx="1462674" cy="36576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463040"/>
            <a:ext cx="2697480" cy="2011680"/>
          </a:xfrm>
          <a:prstGeom prst="rect">
            <a:avLst/>
          </a:prstGeom>
          <a:solidFill>
            <a:srgbClr val="16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463040"/>
            <a:ext cx="2697480" cy="82296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16459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C63FF"/>
                </a:solidFill>
              </a:rPr>
              <a:t>Travel Guide Panel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205740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CCFF"/>
                </a:solidFill>
              </a:rPr>
              <a:t>AI generates tips, top places to visit, best food, best time.
For any destination city searched by the user.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91840" y="1463040"/>
            <a:ext cx="2697480" cy="2011680"/>
          </a:xfrm>
          <a:prstGeom prst="rect">
            <a:avLst/>
          </a:prstGeom>
          <a:solidFill>
            <a:srgbClr val="16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91840" y="1463040"/>
            <a:ext cx="2697480" cy="8229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01568" y="16459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AA"/>
                </a:solidFill>
              </a:rPr>
              <a:t>Interactive Map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01568" y="205740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CCFF"/>
                </a:solidFill>
              </a:rPr>
              <a:t>Leaflet.js renders a map pinpointing tourist spots
near the destination. Clickable markers with names.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463040"/>
            <a:ext cx="2697480" cy="2011680"/>
          </a:xfrm>
          <a:prstGeom prst="rect">
            <a:avLst/>
          </a:prstGeom>
          <a:solidFill>
            <a:srgbClr val="16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1463040"/>
            <a:ext cx="2697480" cy="8229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7648" y="16459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</a:rPr>
              <a:t>Voice Input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648" y="205740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CCFF"/>
                </a:solidFill>
              </a:rPr>
              <a:t>Web Speech API lets users speak their search query.
Transcript auto-fills the chat input box.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0" y="1463040"/>
            <a:ext cx="2697480" cy="2011680"/>
          </a:xfrm>
          <a:prstGeom prst="rect">
            <a:avLst/>
          </a:prstGeom>
          <a:solidFill>
            <a:srgbClr val="16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0" y="1463040"/>
            <a:ext cx="2697480" cy="82296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53728" y="16459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94560"/>
                </a:solidFill>
              </a:rPr>
              <a:t>User Personalisation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3728" y="205740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CCFF"/>
                </a:solidFill>
              </a:rPr>
              <a:t>App greets user by name. Remembers frequent routes.
Suggests 'AC Bus' / 'Tomorrow' based on past use.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749039"/>
            <a:ext cx="2697480" cy="2011680"/>
          </a:xfrm>
          <a:prstGeom prst="rect">
            <a:avLst/>
          </a:prstGeom>
          <a:solidFill>
            <a:srgbClr val="16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760" y="3749039"/>
            <a:ext cx="2697480" cy="82296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5488" y="3931919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CAF50"/>
                </a:solidFill>
              </a:rPr>
              <a:t>Review System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" y="4343399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CCFF"/>
                </a:solidFill>
              </a:rPr>
              <a:t>Users can rate bus operators with star ratings.
Ratings displayed on ticket cards.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91840" y="3749039"/>
            <a:ext cx="2697480" cy="2011680"/>
          </a:xfrm>
          <a:prstGeom prst="rect">
            <a:avLst/>
          </a:prstGeom>
          <a:solidFill>
            <a:srgbClr val="16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91840" y="3749039"/>
            <a:ext cx="2697480" cy="82296"/>
          </a:xfrm>
          <a:prstGeom prst="rect">
            <a:avLst/>
          </a:prstGeom>
          <a:solidFill>
            <a:srgbClr val="CC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01568" y="3931919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C77FF"/>
                </a:solidFill>
              </a:rPr>
              <a:t>Auth Modal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01568" y="4343399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CCFF"/>
                </a:solidFill>
              </a:rPr>
              <a:t>Simple login with username. Session persisted.
Personalised greeting on return visits.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3749039"/>
            <a:ext cx="2697480" cy="2011680"/>
          </a:xfrm>
          <a:prstGeom prst="rect">
            <a:avLst/>
          </a:prstGeom>
          <a:solidFill>
            <a:srgbClr val="16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17920" y="3749039"/>
            <a:ext cx="2697480" cy="82296"/>
          </a:xfrm>
          <a:prstGeom prst="rect">
            <a:avLst/>
          </a:prstGeom>
          <a:solidFill>
            <a:srgbClr val="03A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27648" y="3931919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3A9F4"/>
                </a:solidFill>
              </a:rPr>
              <a:t>Saved Tickets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27648" y="4343399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CCFF"/>
                </a:solidFill>
              </a:rPr>
              <a:t>Users can bookmark tickets for comparison.
Saved tab shows all favourited results.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44000" y="3749039"/>
            <a:ext cx="2697480" cy="2011680"/>
          </a:xfrm>
          <a:prstGeom prst="rect">
            <a:avLst/>
          </a:prstGeom>
          <a:solidFill>
            <a:srgbClr val="16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144000" y="3749039"/>
            <a:ext cx="2697480" cy="82296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253728" y="3931919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5722"/>
                </a:solidFill>
              </a:rPr>
              <a:t>Multi-turn Dialogue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53728" y="4343399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CCFF"/>
                </a:solidFill>
              </a:rPr>
              <a:t>Bot asks follow-up questions if info is missing.
Context carried across conversation turns.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473952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DD"/>
                </a:solidFill>
              </a:rPr>
              <a:t>AI Chat Bot Based Bus Ticketing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1672" y="647395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BBDD"/>
                </a:solidFill>
              </a:rPr>
              <a:t>12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AA"/>
                </a:solidFill>
              </a:rPr>
              <a:t>SLIDE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End-to-End Data Flow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34440"/>
            <a:ext cx="1462674" cy="36576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560320"/>
            <a:ext cx="1371600" cy="822960"/>
          </a:xfrm>
          <a:prstGeom prst="rect">
            <a:avLst/>
          </a:prstGeom>
          <a:solidFill>
            <a:srgbClr val="16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560320"/>
            <a:ext cx="1371600" cy="82296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697480"/>
            <a:ext cx="1280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User sends
chat message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20240" y="2560320"/>
            <a:ext cx="1371600" cy="822960"/>
          </a:xfrm>
          <a:prstGeom prst="rect">
            <a:avLst/>
          </a:prstGeom>
          <a:solidFill>
            <a:srgbClr val="16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920240" y="2560320"/>
            <a:ext cx="1371600" cy="8229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965960" y="2697480"/>
            <a:ext cx="1280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React UI
POST /search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66160" y="2560320"/>
            <a:ext cx="1371600" cy="822960"/>
          </a:xfrm>
          <a:prstGeom prst="rect">
            <a:avLst/>
          </a:prstGeom>
          <a:solidFill>
            <a:srgbClr val="16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566160" y="2560320"/>
            <a:ext cx="1371600" cy="8229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11880" y="2697480"/>
            <a:ext cx="1280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FastAPI
Backend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212080" y="2560320"/>
            <a:ext cx="1371600" cy="822960"/>
          </a:xfrm>
          <a:prstGeom prst="rect">
            <a:avLst/>
          </a:prstGeom>
          <a:solidFill>
            <a:srgbClr val="16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212080" y="2560320"/>
            <a:ext cx="1371600" cy="82296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57800" y="2697480"/>
            <a:ext cx="1280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AI / Rule
Parser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0" y="2560320"/>
            <a:ext cx="1371600" cy="822960"/>
          </a:xfrm>
          <a:prstGeom prst="rect">
            <a:avLst/>
          </a:prstGeom>
          <a:solidFill>
            <a:srgbClr val="16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0" y="2560320"/>
            <a:ext cx="1371600" cy="82296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03720" y="2697480"/>
            <a:ext cx="1280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Playwright
Scraper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03920" y="2560320"/>
            <a:ext cx="1371600" cy="822960"/>
          </a:xfrm>
          <a:prstGeom prst="rect">
            <a:avLst/>
          </a:prstGeom>
          <a:solidFill>
            <a:srgbClr val="16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503920" y="2560320"/>
            <a:ext cx="1371600" cy="82296"/>
          </a:xfrm>
          <a:prstGeom prst="rect">
            <a:avLst/>
          </a:prstGeom>
          <a:solidFill>
            <a:srgbClr val="03A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49640" y="2697480"/>
            <a:ext cx="1280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Filter &amp;
Sort Logic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149840" y="2560320"/>
            <a:ext cx="1371600" cy="822960"/>
          </a:xfrm>
          <a:prstGeom prst="rect">
            <a:avLst/>
          </a:prstGeom>
          <a:solidFill>
            <a:srgbClr val="16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149840" y="2560320"/>
            <a:ext cx="1371600" cy="82296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195560" y="2697480"/>
            <a:ext cx="1280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JSON Response
to UI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856232" y="2944368"/>
            <a:ext cx="64008" cy="5486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319272" y="2944368"/>
            <a:ext cx="64008" cy="5486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965192" y="2944368"/>
            <a:ext cx="64008" cy="5486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611112" y="2944368"/>
            <a:ext cx="64008" cy="5486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257032" y="2944368"/>
            <a:ext cx="64008" cy="5486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902952" y="2944368"/>
            <a:ext cx="64008" cy="5486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901952" y="3520440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555577"/>
                </a:solidFill>
              </a:rPr>
              <a:t>HTTP POST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64992" y="3520440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555577"/>
                </a:solidFill>
              </a:rPr>
              <a:t>Route &amp;
Query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10912" y="3520440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555577"/>
                </a:solidFill>
              </a:rPr>
              <a:t>NL Query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56832" y="3520440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555577"/>
                </a:solidFill>
              </a:rPr>
              <a:t>Intent JSON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02752" y="3520440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555577"/>
                </a:solidFill>
              </a:rPr>
              <a:t>Bus List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48672" y="3520440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555577"/>
                </a:solidFill>
              </a:rPr>
              <a:t>Filtered
Results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4663440"/>
            <a:ext cx="2743200" cy="1371600"/>
          </a:xfrm>
          <a:prstGeom prst="rect">
            <a:avLst/>
          </a:prstGeom>
          <a:solidFill>
            <a:srgbClr val="1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65760" y="4663440"/>
            <a:ext cx="2743200" cy="64008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" y="477316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C63FF"/>
                </a:solidFill>
              </a:rPr>
              <a:t>React UI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512064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FF"/>
                </a:solidFill>
              </a:rPr>
              <a:t>Chat, Results, Badges,
Theme Toggle, Map, History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91840" y="4663440"/>
            <a:ext cx="2743200" cy="1371600"/>
          </a:xfrm>
          <a:prstGeom prst="rect">
            <a:avLst/>
          </a:prstGeom>
          <a:solidFill>
            <a:srgbClr val="1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291840" y="4663440"/>
            <a:ext cx="2743200" cy="64008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383280" y="477316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AA"/>
                </a:solidFill>
              </a:rPr>
              <a:t>FastAPI Backend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383280" y="512064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FF"/>
                </a:solidFill>
              </a:rPr>
              <a:t>CORS, Pydantic, Caching,
Connecting Routes, Travel Guide API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17920" y="4663440"/>
            <a:ext cx="2743200" cy="1371600"/>
          </a:xfrm>
          <a:prstGeom prst="rect">
            <a:avLst/>
          </a:prstGeom>
          <a:solidFill>
            <a:srgbClr val="1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217920" y="4663440"/>
            <a:ext cx="2743200" cy="640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309360" y="477316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</a:rPr>
              <a:t>AI Engine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09360" y="512064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FF"/>
                </a:solidFill>
              </a:rPr>
              <a:t>OpenRouter → Hermes 3
→ Fallback models → Rule parser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144000" y="4663440"/>
            <a:ext cx="2743200" cy="1371600"/>
          </a:xfrm>
          <a:prstGeom prst="rect">
            <a:avLst/>
          </a:prstGeom>
          <a:solidFill>
            <a:srgbClr val="1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9144000" y="4663440"/>
            <a:ext cx="2743200" cy="6400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235440" y="477316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94560"/>
                </a:solidFill>
              </a:rPr>
              <a:t>Scraper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235440" y="512064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FF"/>
                </a:solidFill>
              </a:rPr>
              <a:t>Playwright intercepts
RedBus GraphQL API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473952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DD"/>
                </a:solidFill>
              </a:rPr>
              <a:t>AI Chat Bot Based Bus Ticketing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1672" y="647395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BBDD"/>
                </a:solidFill>
              </a:rPr>
              <a:t>13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AA"/>
                </a:solidFill>
              </a:rPr>
              <a:t>SLIDE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Limitations &amp; Future Scope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34440"/>
            <a:ext cx="1462674" cy="36576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463040"/>
            <a:ext cx="5486400" cy="4114800"/>
          </a:xfrm>
          <a:prstGeom prst="rect">
            <a:avLst/>
          </a:prstGeom>
          <a:solidFill>
            <a:srgbClr val="161E3A"/>
          </a:solidFill>
          <a:ln w="12700">
            <a:solidFill>
              <a:srgbClr val="E9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572768"/>
            <a:ext cx="5212080" cy="3895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94560"/>
                </a:solidFill>
              </a:rPr>
              <a:t>Current Limitations</a:t>
            </a:r>
          </a:p>
          <a:p>
            <a:pPr algn="l"/>
            <a:r>
              <a:rPr sz="1300" b="0">
                <a:solidFill>
                  <a:srgbClr val="DDDDFF"/>
                </a:solidFill>
              </a:rPr>
              <a:t>  Free AI tier (OpenRouter) has rate limits — rule-based fallback mitigates this</a:t>
            </a:r>
          </a:p>
          <a:p>
            <a:pPr algn="l"/>
            <a:r>
              <a:rPr sz="1300" b="0">
                <a:solidFill>
                  <a:srgbClr val="DDDDFF"/>
                </a:solidFill>
              </a:rPr>
              <a:t>  Scraper depends on RedBus API structure — may need updates on site changes</a:t>
            </a:r>
          </a:p>
          <a:p>
            <a:pPr algn="l"/>
            <a:r>
              <a:rPr sz="1300" b="0">
                <a:solidFill>
                  <a:srgbClr val="DDDDFF"/>
                </a:solidFill>
              </a:rPr>
              <a:t>  No real payment gateway — booking redirects to third-party sites</a:t>
            </a:r>
          </a:p>
          <a:p>
            <a:pPr algn="l"/>
            <a:r>
              <a:rPr sz="1300" b="0">
                <a:solidFill>
                  <a:srgbClr val="DDDDFF"/>
                </a:solidFill>
              </a:rPr>
              <a:t>  Bus data limited to routes available on RedBus India</a:t>
            </a:r>
          </a:p>
          <a:p>
            <a:pPr algn="l"/>
            <a:r>
              <a:rPr sz="1300" b="0">
                <a:solidFill>
                  <a:srgbClr val="DDDDFF"/>
                </a:solidFill>
              </a:rPr>
              <a:t>  No persistent database — all history stored in localStorage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463040"/>
            <a:ext cx="5669280" cy="4114800"/>
          </a:xfrm>
          <a:prstGeom prst="rect">
            <a:avLst/>
          </a:prstGeom>
          <a:solidFill>
            <a:srgbClr val="161E3A"/>
          </a:solidFill>
          <a:ln w="127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1572768"/>
            <a:ext cx="5394960" cy="3895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D4AA"/>
                </a:solidFill>
              </a:rPr>
              <a:t>Future Enhancements</a:t>
            </a:r>
          </a:p>
          <a:p>
            <a:pPr algn="l"/>
            <a:r>
              <a:rPr sz="1300" b="0">
                <a:solidFill>
                  <a:srgbClr val="DDDDFF"/>
                </a:solidFill>
              </a:rPr>
              <a:t>  Fine-tuned NLP model for richer intent understanding</a:t>
            </a:r>
          </a:p>
          <a:p>
            <a:pPr algn="l"/>
            <a:r>
              <a:rPr sz="1300" b="0">
                <a:solidFill>
                  <a:srgbClr val="DDDDFF"/>
                </a:solidFill>
              </a:rPr>
              <a:t>  Add train, flight, and cab booking support</a:t>
            </a:r>
          </a:p>
          <a:p>
            <a:pPr algn="l"/>
            <a:r>
              <a:rPr sz="1300" b="0">
                <a:solidFill>
                  <a:srgbClr val="DDDDFF"/>
                </a:solidFill>
              </a:rPr>
              <a:t>  Real-time seat-map &amp; seat selection inside the app</a:t>
            </a:r>
          </a:p>
          <a:p>
            <a:pPr algn="l"/>
            <a:r>
              <a:rPr sz="1300" b="0">
                <a:solidFill>
                  <a:srgbClr val="DDDDFF"/>
                </a:solidFill>
              </a:rPr>
              <a:t>  Razorpay / Stripe payment gateway integration</a:t>
            </a:r>
          </a:p>
          <a:p>
            <a:pPr algn="l"/>
            <a:r>
              <a:rPr sz="1300" b="0">
                <a:solidFill>
                  <a:srgbClr val="DDDDFF"/>
                </a:solidFill>
              </a:rPr>
              <a:t>  Progressive Web App (PWA) with push notifications</a:t>
            </a:r>
          </a:p>
          <a:p>
            <a:pPr algn="l"/>
            <a:r>
              <a:rPr sz="1300" b="0">
                <a:solidFill>
                  <a:srgbClr val="DDDDFF"/>
                </a:solidFill>
              </a:rPr>
              <a:t>  Tamil, Hindi, Kannada multi-language support</a:t>
            </a:r>
          </a:p>
          <a:p>
            <a:pPr algn="l"/>
            <a:r>
              <a:rPr sz="1300" b="0">
                <a:solidFill>
                  <a:srgbClr val="DDDDFF"/>
                </a:solidFill>
              </a:rPr>
              <a:t>  PostgreSQL backend for persistent user data</a:t>
            </a:r>
          </a:p>
          <a:p>
            <a:pPr algn="l"/>
            <a:r>
              <a:rPr sz="1300" b="0">
                <a:solidFill>
                  <a:srgbClr val="DDDDFF"/>
                </a:solidFill>
              </a:rPr>
              <a:t>  ML price prediction using historical pricing data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34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473952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BDD"/>
                </a:solidFill>
              </a:rPr>
              <a:t>AI Chat Bot Based Bus Ticketing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1672" y="647395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BBDD"/>
                </a:solidFill>
              </a:rPr>
              <a:t>14 / 14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822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AA"/>
                </a:solidFill>
              </a:rPr>
              <a:t>CONCLUSION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344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What We Built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920240"/>
            <a:ext cx="1828800" cy="5486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148840"/>
            <a:ext cx="6858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CCDDFF"/>
                </a:solidFill>
              </a:rPr>
              <a:t>The AI Chat Bot Based Bus Ticketing System successfully combines Conversational AI, real-time web scraping, and premium UI design to transform a fragmented bus-booking experience into a simple, zero-learning-curve chat interaction.
By using a layered AI strategy — primary LLM → fallback models → rule-based parser — the system delivers near-100% reliability for intent extraction with zero inference cost.
The result: a production-ready AI travel assistant covering 15+ South Indian cities, 7 smart filter types, live ticket data, and a world-class 2026 glassmorphism interface.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5212080"/>
            <a:ext cx="1554480" cy="914400"/>
          </a:xfrm>
          <a:prstGeom prst="rect">
            <a:avLst/>
          </a:prstGeom>
          <a:solidFill>
            <a:srgbClr val="1E3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5212080"/>
            <a:ext cx="1554480" cy="82296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" y="5376672"/>
            <a:ext cx="1417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Natural Language
Bus Search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48840" y="5212080"/>
            <a:ext cx="1554480" cy="914400"/>
          </a:xfrm>
          <a:prstGeom prst="rect">
            <a:avLst/>
          </a:prstGeom>
          <a:solidFill>
            <a:srgbClr val="1E3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148840" y="5212080"/>
            <a:ext cx="1554480" cy="8229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221992" y="5376672"/>
            <a:ext cx="1417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Live RedBus
Data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40480" y="5212080"/>
            <a:ext cx="1554480" cy="914400"/>
          </a:xfrm>
          <a:prstGeom prst="rect">
            <a:avLst/>
          </a:prstGeom>
          <a:solidFill>
            <a:srgbClr val="1E3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840480" y="5212080"/>
            <a:ext cx="1554480" cy="8229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13632" y="5376672"/>
            <a:ext cx="1417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Smart AI
Filtering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532120" y="5212080"/>
            <a:ext cx="1554480" cy="914400"/>
          </a:xfrm>
          <a:prstGeom prst="rect">
            <a:avLst/>
          </a:prstGeom>
          <a:solidFill>
            <a:srgbClr val="1E3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532120" y="5212080"/>
            <a:ext cx="1554480" cy="82296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05272" y="5376672"/>
            <a:ext cx="1417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Premium UI
&amp; Theme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80960" y="1417320"/>
            <a:ext cx="4206240" cy="4846320"/>
          </a:xfrm>
          <a:prstGeom prst="rect">
            <a:avLst/>
          </a:prstGeom>
          <a:solidFill>
            <a:srgbClr val="121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63840" y="150876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AA"/>
                </a:solidFill>
              </a:rPr>
              <a:t>Tech at a Glance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1965960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FF"/>
                </a:solidFill>
              </a:rPr>
              <a:t>Frontend:     React + TypeScript + Vite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0" y="2350008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FF"/>
                </a:solidFill>
              </a:rPr>
              <a:t>Styling:      Vanilla CSS Glassmorphism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2734056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FF"/>
                </a:solidFill>
              </a:rPr>
              <a:t>Backend:      FastAPI (Python 3.11+)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3118104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FF"/>
                </a:solidFill>
              </a:rPr>
              <a:t>AI:           OpenRouter / Nous Hermes 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3502152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FF"/>
                </a:solidFill>
              </a:rPr>
              <a:t>Fallback:     Rule-based Regex Parser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0" y="3886200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FF"/>
                </a:solidFill>
              </a:rPr>
              <a:t>Scraper:      Playwright + RedBus API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0" y="4270248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FF"/>
                </a:solidFill>
              </a:rPr>
              <a:t>Map:          Leaflet.js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0" y="4654296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FF"/>
                </a:solidFill>
              </a:rPr>
              <a:t>Voice:        Web Speech API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63840" y="5038344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FF"/>
                </a:solidFill>
              </a:rPr>
              <a:t>Storage:      localStorage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63840" y="5422392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FF"/>
                </a:solidFill>
              </a:rPr>
              <a:t>Container:    Docker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40" y="5806440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FF"/>
                </a:solidFill>
              </a:rPr>
              <a:t>Version Ctrl: Git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355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5577"/>
                </a:solidFill>
              </a:rPr>
              <a:t>http://localhost:5173  |  http://localhost:8000/docs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